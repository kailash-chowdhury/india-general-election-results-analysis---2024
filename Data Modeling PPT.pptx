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7F40C-233D-41F2-8837-913D2FE299D9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F0A69-B4AF-48A5-8FB2-6454D0E13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1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F52F6A-5264-72F3-187D-077B24AD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1FC2213-35AE-432F-9E99-3035BD9E2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CC07D4-99E2-57AB-6078-460F5161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27CB33C-E2E6-9B42-6ECB-6DFE606C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51B419-1E10-A946-1426-52DD78F3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4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BB20A6-784E-8189-1B67-CE77E0FC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D39646-097D-4479-C7C6-8E05B01A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33225E-4113-4C7D-4209-1C59E68E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A16D78-DFF7-D3BD-F4A3-2AAD2716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75A985-475F-0AC6-7C13-AAEF310E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1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F0CFAD-DC87-2579-1BF3-3BCD4020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58CFDF-9BC9-BE9C-C000-1C8B3BA8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52C886-DF74-8450-BCCE-D172C7C1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53E0C1-BB7C-9E36-824B-A95B43E1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C6E47FF-2BC6-7183-EDB2-7F937B8F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4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7B3992-F058-A716-E8BD-6A6DE744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4D2D33-F27A-0F5D-38AD-477E4117E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FD1D69F-2817-3182-3A4D-E622DEC3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7F9F8DA-35FA-9431-B7EC-C2796012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72DB51-E0BC-7657-D83C-41A79329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6789C92-D527-204E-C8A8-4D3032EA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DEAEBF-EB58-991F-6EBB-BD64483B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3CD87B-248A-CAAF-6330-B87C2229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371ADAB-0553-2A3A-F66C-0C037DF72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C58EDF3-073A-DBE3-9876-57229E9A7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2436AFC-4D3C-4479-6059-5545AF1A3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368723F-6FD0-44B5-0F5C-B647CBC7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68738CE-312B-32AB-D560-50C0753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73B0A1C-FF84-C60D-66E7-1891F935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7D1E0-CB6C-FE96-0AA0-9168EB5B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A48A417-4DFD-16FF-A515-BDB93469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811DBD1-458D-1558-9EC7-2B0AED72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FF9A5B6-409A-6192-4294-F20E5E0F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2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7F75AB6-81AC-F589-9BBA-885404AE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7D22893-1946-3336-8D3E-E07965CD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AC75B2C-DC15-CB17-AD76-6367EB27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79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47E4EB-CAC7-2CC0-6B5F-AF6F83F9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96D1CF-C5AD-510A-EF42-C3161038B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16F91DF-84B1-5AB8-400E-A81BC1F43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691C98F-64BC-4216-2F58-0FB5E206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F8EE2CA-9996-EB54-7A06-9B7D19DF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82F9C83-29A6-E075-99D1-BCA2DF0D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F1338A-068B-9490-A576-06FB1070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9221BF0-8D13-D488-713F-D45C33743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32B4A85-37C4-954F-EE82-3454ED38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CE56FF6-1535-5977-041C-2778F2A5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0DE7D3-E7D6-D652-3D60-E5530195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ED9DF2B-D6E5-B981-21EF-02E9D6D0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4E7813-9061-566A-88C0-E3380696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4405A44-A0D2-C23E-C9E8-663A3C71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71D01E-C85D-27DE-4305-4E8A2FFA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C9D51D-5E88-516C-F0B4-1CF8DC2E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B4A4F0-29E4-2C81-C060-78C07287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6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76971CA-B61D-DDA9-8693-FAFFC42D4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305FAC1-2829-2B31-49F0-5D44CF441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240ADB0-8C30-E8FF-0317-9012360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AC7A31-5DD1-3729-320A-0D6251C7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D4A7BB-9352-2A4C-FF54-CB5481F9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3B66EEF-06D0-3008-BEA1-F58E03A71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DC1628F-26FB-FF94-B25C-A3B237A7B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B6FC9CA-19DC-B48E-DD44-466252D5C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9FC2B-7976-46EE-BC6A-1A36A475BAE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25AE5A-A7CA-2E3A-93E1-F18BE4D48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508971-2678-DE40-4404-7F7AEC2DE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0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E31100FC-41AE-15FF-3AA2-DADA5AC4D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01934"/>
              </p:ext>
            </p:extLst>
          </p:nvPr>
        </p:nvGraphicFramePr>
        <p:xfrm>
          <a:off x="564550" y="4030967"/>
          <a:ext cx="1997493" cy="16586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97493">
                  <a:extLst>
                    <a:ext uri="{9D8B030D-6E8A-4147-A177-3AD203B41FA5}">
                      <a16:colId xmlns:a16="http://schemas.microsoft.com/office/drawing/2014/main" xmlns="" val="3700960344"/>
                    </a:ext>
                  </a:extLst>
                </a:gridCol>
              </a:tblGrid>
              <a:tr h="2094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constituencywise_details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30429769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40157928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3952374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EVM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622315658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Postal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8786841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64007832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% of Votes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818003511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Number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079758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8BA5C23-54A4-1DE8-E7EF-CB20F2241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59027"/>
              </p:ext>
            </p:extLst>
          </p:nvPr>
        </p:nvGraphicFramePr>
        <p:xfrm>
          <a:off x="4368800" y="4019912"/>
          <a:ext cx="1997494" cy="16627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97494">
                  <a:extLst>
                    <a:ext uri="{9D8B030D-6E8A-4147-A177-3AD203B41FA5}">
                      <a16:colId xmlns:a16="http://schemas.microsoft.com/office/drawing/2014/main" xmlns="" val="3007124961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constituencywise</a:t>
                      </a:r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281080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433346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99519977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Winning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64162147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9334906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Margin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437360296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4451873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68615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40013526-A28C-4C7A-D511-312886104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755493"/>
              </p:ext>
            </p:extLst>
          </p:nvPr>
        </p:nvGraphicFramePr>
        <p:xfrm>
          <a:off x="4580626" y="2104847"/>
          <a:ext cx="1440612" cy="8475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440612">
                  <a:extLst>
                    <a:ext uri="{9D8B030D-6E8A-4147-A177-3AD203B41FA5}">
                      <a16:colId xmlns:a16="http://schemas.microsoft.com/office/drawing/2014/main" xmlns="" val="1798366723"/>
                    </a:ext>
                  </a:extLst>
                </a:gridCol>
              </a:tblGrid>
              <a:tr h="2118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partywise_results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233822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80499284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4169040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073199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E2E83A1F-B549-96B3-6D0C-65B02B11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49804"/>
              </p:ext>
            </p:extLst>
          </p:nvPr>
        </p:nvGraphicFramePr>
        <p:xfrm>
          <a:off x="10007719" y="3133219"/>
          <a:ext cx="860485" cy="66423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60485">
                  <a:extLst>
                    <a:ext uri="{9D8B030D-6E8A-4147-A177-3AD203B41FA5}">
                      <a16:colId xmlns:a16="http://schemas.microsoft.com/office/drawing/2014/main" xmlns="" val="1662601645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0609953"/>
                  </a:ext>
                </a:extLst>
              </a:tr>
              <a:tr h="21934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35131492"/>
                  </a:ext>
                </a:extLst>
              </a:tr>
              <a:tr h="22554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893022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05482AE6-0392-144C-803A-A09CC1012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48092"/>
              </p:ext>
            </p:extLst>
          </p:nvPr>
        </p:nvGraphicFramePr>
        <p:xfrm>
          <a:off x="7674512" y="4075199"/>
          <a:ext cx="2168227" cy="22458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68227">
                  <a:extLst>
                    <a:ext uri="{9D8B030D-6E8A-4147-A177-3AD203B41FA5}">
                      <a16:colId xmlns:a16="http://schemas.microsoft.com/office/drawing/2014/main" xmlns="" val="3562918650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statewise_results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6564965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98039914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Const. No.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58316632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 </a:t>
                      </a:r>
                      <a:r>
                        <a:rPr lang="en-IN" sz="1200" u="none" strike="noStrike" dirty="0" err="1">
                          <a:effectLst/>
                        </a:rPr>
                        <a:t>Name_Number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052884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Leading Candidate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69371241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Trailing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78460418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Margin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4330107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Status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56849543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943392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State</a:t>
                      </a:r>
                      <a:endParaRPr lang="en-IN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937196275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31F16BA0-B435-434E-4533-AC12B29B20B2}"/>
              </a:ext>
            </a:extLst>
          </p:cNvPr>
          <p:cNvCxnSpPr/>
          <p:nvPr/>
        </p:nvCxnSpPr>
        <p:spPr>
          <a:xfrm>
            <a:off x="5300932" y="2952391"/>
            <a:ext cx="0" cy="1067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71824DFB-D01E-F062-0C45-86097A97AC9B}"/>
              </a:ext>
            </a:extLst>
          </p:cNvPr>
          <p:cNvCxnSpPr>
            <a:cxnSpLocks/>
          </p:cNvCxnSpPr>
          <p:nvPr/>
        </p:nvCxnSpPr>
        <p:spPr>
          <a:xfrm>
            <a:off x="2562044" y="4855952"/>
            <a:ext cx="180675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6366294" y="4930722"/>
            <a:ext cx="13082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6963575A-9F66-31CC-610A-CCEB32947950}"/>
              </a:ext>
            </a:extLst>
          </p:cNvPr>
          <p:cNvCxnSpPr>
            <a:cxnSpLocks/>
          </p:cNvCxnSpPr>
          <p:nvPr/>
        </p:nvCxnSpPr>
        <p:spPr>
          <a:xfrm>
            <a:off x="9842739" y="5191665"/>
            <a:ext cx="5952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C5D9B085-7D97-2511-FDC4-3FDF3BD2F6B1}"/>
              </a:ext>
            </a:extLst>
          </p:cNvPr>
          <p:cNvCxnSpPr>
            <a:cxnSpLocks/>
          </p:cNvCxnSpPr>
          <p:nvPr/>
        </p:nvCxnSpPr>
        <p:spPr>
          <a:xfrm>
            <a:off x="10437962" y="3806679"/>
            <a:ext cx="0" cy="1391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E13AB42A-D42E-4E0B-F968-4FA2EC8ACDE6}"/>
              </a:ext>
            </a:extLst>
          </p:cNvPr>
          <p:cNvSpPr txBox="1"/>
          <p:nvPr/>
        </p:nvSpPr>
        <p:spPr>
          <a:xfrm>
            <a:off x="2850066" y="4274203"/>
            <a:ext cx="11712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u="none" strike="noStrike" dirty="0">
                <a:effectLst/>
              </a:rPr>
              <a:t>Constituency ID = </a:t>
            </a:r>
            <a:r>
              <a:rPr lang="en-IN" sz="1050" b="1" dirty="0"/>
              <a:t>Constituency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D4064F27-5BCB-D7B4-EA36-D902790FE89C}"/>
              </a:ext>
            </a:extLst>
          </p:cNvPr>
          <p:cNvSpPr txBox="1"/>
          <p:nvPr/>
        </p:nvSpPr>
        <p:spPr>
          <a:xfrm>
            <a:off x="10414838" y="445389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State 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8BFD8A5-E30B-31EB-7614-45AC70682565}"/>
              </a:ext>
            </a:extLst>
          </p:cNvPr>
          <p:cNvSpPr txBox="1"/>
          <p:nvPr/>
        </p:nvSpPr>
        <p:spPr>
          <a:xfrm>
            <a:off x="6469629" y="4954523"/>
            <a:ext cx="11300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 u="none" strike="noStrike">
                <a:effectLst/>
              </a:defRPr>
            </a:lvl1pPr>
          </a:lstStyle>
          <a:p>
            <a:r>
              <a:rPr lang="en-IN" dirty="0"/>
              <a:t>Parliament Constituency =</a:t>
            </a:r>
            <a:br>
              <a:rPr lang="en-IN" dirty="0"/>
            </a:br>
            <a:r>
              <a:rPr lang="en-IN" dirty="0"/>
              <a:t>Parliament Constituency </a:t>
            </a:r>
            <a:r>
              <a:rPr lang="en-IN" dirty="0" err="1"/>
              <a:t>Name_Number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C60A4DAE-EDE0-EAF7-AFC2-6EFACCEA7161}"/>
              </a:ext>
            </a:extLst>
          </p:cNvPr>
          <p:cNvSpPr txBox="1"/>
          <p:nvPr/>
        </p:nvSpPr>
        <p:spPr>
          <a:xfrm>
            <a:off x="5285956" y="333453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Party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DCD4D04-EEDD-4743-053C-3B35EF14CEDF}"/>
              </a:ext>
            </a:extLst>
          </p:cNvPr>
          <p:cNvSpPr txBox="1"/>
          <p:nvPr/>
        </p:nvSpPr>
        <p:spPr>
          <a:xfrm>
            <a:off x="347870" y="1337032"/>
            <a:ext cx="7786838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ENTITY RELATIONSHIP DIAGRAM (ERD) / SCHEMA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349A462-F683-FF9E-2884-322C8E54AF6A}"/>
              </a:ext>
            </a:extLst>
          </p:cNvPr>
          <p:cNvSpPr txBox="1"/>
          <p:nvPr/>
        </p:nvSpPr>
        <p:spPr>
          <a:xfrm>
            <a:off x="0" y="-1714"/>
            <a:ext cx="1219200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rial Black" panose="020B0A04020102020204" pitchFamily="34" charset="0"/>
              </a:rPr>
              <a:t>DATA MODELING IN POWER BI</a:t>
            </a:r>
            <a:endParaRPr lang="en-IN"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656ED3E7-5D75-8B13-5431-49CF2DE9437F}"/>
              </a:ext>
            </a:extLst>
          </p:cNvPr>
          <p:cNvSpPr/>
          <p:nvPr/>
        </p:nvSpPr>
        <p:spPr>
          <a:xfrm>
            <a:off x="347870" y="1930448"/>
            <a:ext cx="10875095" cy="45287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66B2E6-A2B6-C6DA-9CEF-BE3B04956DDA}"/>
              </a:ext>
            </a:extLst>
          </p:cNvPr>
          <p:cNvSpPr txBox="1"/>
          <p:nvPr/>
        </p:nvSpPr>
        <p:spPr>
          <a:xfrm>
            <a:off x="1106621" y="736736"/>
            <a:ext cx="1046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opperplate Gothic Bold" panose="020E0705020206020404" pitchFamily="34" charset="0"/>
              </a:rPr>
              <a:t>INDIA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opperplate Gothic Bold" panose="020E0705020206020404" pitchFamily="34" charset="0"/>
              </a:rPr>
              <a:t>GENERAL ELECTION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pperplate Gothic Bold" panose="020E0705020206020404" pitchFamily="34" charset="0"/>
              </a:rPr>
              <a:t>RESULT ANALYSIS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opperplate Gothic Bold" panose="020E07050202060204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95366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98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Arial Rounded MT Bold</vt:lpstr>
      <vt:lpstr>Calibri</vt:lpstr>
      <vt:lpstr>Calibri Light</vt:lpstr>
      <vt:lpstr>Copperplate Gothic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Microsoft account</cp:lastModifiedBy>
  <cp:revision>31</cp:revision>
  <dcterms:created xsi:type="dcterms:W3CDTF">2024-08-26T16:35:30Z</dcterms:created>
  <dcterms:modified xsi:type="dcterms:W3CDTF">2025-09-27T04:07:37Z</dcterms:modified>
</cp:coreProperties>
</file>